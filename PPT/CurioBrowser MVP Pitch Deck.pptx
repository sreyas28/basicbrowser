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9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erif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erif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erif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erif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erif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erif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erif"/>
              </a:defRPr>
            </a:lvl1pPr>
          </a:lstStyle>
          <a:p>
            <a:pPr indent="0" algn="r">
              <a:buNone/>
            </a:pPr>
            <a:fld id="{9119E6FA-0E62-478F-9309-E1D33C97D430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erif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67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7D5F5C8-64CA-4FFC-AC74-DAAB0F924AD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01E9D5F-208E-444D-B067-54843A86D41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6C61E6C-77A9-4523-BCAD-B2CA1EC7E83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76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77857F1-C70D-4554-BC38-8637DBA3364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79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066189C-D09C-441D-B3F0-5E5D06764A7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82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004D23A-1575-480B-BFBD-E94405FDA54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85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E2E34FA-0CF7-45AC-AC57-F231F206FA0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88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6DD9F2B-510E-4984-94F1-580D5D6CD7F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91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0001509-6DC0-4FE2-9A9C-CA98303E43E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" name="Text 0"/>
          <p:cNvSpPr/>
          <p:nvPr/>
        </p:nvSpPr>
        <p:spPr>
          <a:xfrm>
            <a:off x="2601000" y="1833120"/>
            <a:ext cx="3941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5400"/>
              </a:lnSpc>
              <a:tabLst>
                <a:tab algn="l" pos="0"/>
              </a:tabLst>
            </a:pPr>
            <a:r>
              <a:rPr lang="en-US" sz="4500" b="1" u="none" strike="noStrike">
                <a:solidFill>
                  <a:srgbClr val="f1f5f9"/>
                </a:solidFill>
                <a:effectLst/>
                <a:uFillTx/>
                <a:latin typeface="Arial"/>
                <a:ea typeface="Arial"/>
              </a:rPr>
              <a:t>CurioBrowser</a:t>
            </a:r>
            <a:endParaRPr lang="en-US" sz="45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12" name="Text 1"/>
          <p:cNvSpPr/>
          <p:nvPr/>
        </p:nvSpPr>
        <p:spPr>
          <a:xfrm>
            <a:off x="3158640" y="2764440"/>
            <a:ext cx="28260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2520"/>
              </a:lnSpc>
              <a:tabLst>
                <a:tab algn="l" pos="0"/>
              </a:tabLst>
            </a:pPr>
            <a:r>
              <a:rPr lang="en-US" sz="1800" b="0" u="none" strike="noStrike">
                <a:solidFill>
                  <a:srgbClr val="cbd5e1"/>
                </a:solidFill>
                <a:effectLst/>
                <a:uFillTx/>
                <a:latin typeface="Arial"/>
                <a:ea typeface="Arial"/>
              </a:rPr>
              <a:t>A Child-Safe Browser MVP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13" name="Text 2"/>
          <p:cNvSpPr/>
          <p:nvPr/>
        </p:nvSpPr>
        <p:spPr>
          <a:xfrm>
            <a:off x="2054880" y="3183120"/>
            <a:ext cx="5033520" cy="23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1891"/>
              </a:lnSpc>
              <a:tabLst>
                <a:tab algn="l" pos="0"/>
              </a:tabLst>
            </a:pPr>
            <a:r>
              <a:rPr lang="en-US" sz="1350" b="0" u="none" strike="noStrike">
                <a:solidFill>
                  <a:srgbClr val="94a3b8"/>
                </a:solidFill>
                <a:effectLst/>
                <a:uFillTx/>
                <a:latin typeface="Arial"/>
                <a:ea typeface="Arial"/>
              </a:rPr>
              <a:t>Protecting children. Respecting privacy. Empowering parents.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" name="Text 0"/>
          <p:cNvSpPr/>
          <p:nvPr/>
        </p:nvSpPr>
        <p:spPr>
          <a:xfrm>
            <a:off x="421560" y="609480"/>
            <a:ext cx="8083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3240"/>
              </a:lnSpc>
              <a:tabLst>
                <a:tab algn="l" pos="0"/>
              </a:tabLst>
            </a:pPr>
            <a:r>
              <a:rPr lang="en-US" sz="2700" b="1" u="none" strike="noStrike">
                <a:solidFill>
                  <a:srgbClr val="38bdf8"/>
                </a:solidFill>
                <a:effectLst/>
                <a:uFillTx/>
                <a:latin typeface="Arial"/>
                <a:ea typeface="Arial"/>
              </a:rPr>
              <a:t>Problem &amp; Validation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16" name="Text 1"/>
          <p:cNvSpPr/>
          <p:nvPr/>
        </p:nvSpPr>
        <p:spPr>
          <a:xfrm>
            <a:off x="266040" y="1249560"/>
            <a:ext cx="8083080" cy="23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891"/>
              </a:lnSpc>
              <a:tabLst>
                <a:tab algn="l" pos="0"/>
              </a:tabLst>
            </a:pPr>
            <a:r>
              <a:rPr lang="en-US" sz="1350" b="1" u="none" strike="noStrike">
                <a:solidFill>
                  <a:srgbClr val="cbd5e1"/>
                </a:solidFill>
                <a:effectLst/>
                <a:uFillTx/>
                <a:latin typeface="Arial"/>
                <a:ea typeface="Arial"/>
              </a:rPr>
              <a:t>Customer Challenges (Validated):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17" name="Text 2"/>
          <p:cNvSpPr/>
          <p:nvPr/>
        </p:nvSpPr>
        <p:spPr>
          <a:xfrm>
            <a:off x="914400" y="1641960"/>
            <a:ext cx="7619760" cy="11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ts val="2429"/>
              </a:lnSpc>
              <a:buClr>
                <a:srgbClr val="cbd5e1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cbd5e1"/>
                </a:solidFill>
                <a:effectLst/>
                <a:uFillTx/>
                <a:latin typeface="Arial"/>
                <a:ea typeface="Arial"/>
              </a:rPr>
              <a:t>78% of parents struggle controlling child web access (survey: 50 parents)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marL="343080" indent="-343080" defTabSz="914400">
              <a:lnSpc>
                <a:spcPts val="2429"/>
              </a:lnSpc>
              <a:buClr>
                <a:srgbClr val="cbd5e1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cbd5e1"/>
                </a:solidFill>
                <a:effectLst/>
                <a:uFillTx/>
                <a:latin typeface="Arial"/>
                <a:ea typeface="Arial"/>
              </a:rPr>
              <a:t>Existing solutions collect personal data despite privacy promises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marL="343080" indent="-343080" defTabSz="914400">
              <a:lnSpc>
                <a:spcPts val="2429"/>
              </a:lnSpc>
              <a:buClr>
                <a:srgbClr val="cbd5e1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cbd5e1"/>
                </a:solidFill>
                <a:effectLst/>
                <a:uFillTx/>
                <a:latin typeface="Arial"/>
                <a:ea typeface="Arial"/>
              </a:rPr>
              <a:t>Children report interfaces too complex or restrictive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0"/>
          <p:cNvSpPr/>
          <p:nvPr/>
        </p:nvSpPr>
        <p:spPr>
          <a:xfrm>
            <a:off x="421560" y="609480"/>
            <a:ext cx="8083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3240"/>
              </a:lnSpc>
              <a:tabLst>
                <a:tab algn="l" pos="0"/>
              </a:tabLst>
            </a:pPr>
            <a:r>
              <a:rPr lang="en-US" sz="2700" b="1" u="none" strike="noStrike">
                <a:solidFill>
                  <a:srgbClr val="38bdf8"/>
                </a:solidFill>
                <a:effectLst/>
                <a:uFillTx/>
                <a:latin typeface="Arial"/>
                <a:ea typeface="Arial"/>
              </a:rPr>
              <a:t>Solution &amp; Iteration (Founder-Led)</a:t>
            </a:r>
            <a:endParaRPr lang="en-US" sz="2700" b="0" u="none" strike="noStrike">
              <a:solidFill>
                <a:srgbClr val="ffffff"/>
              </a:solidFill>
              <a:effectLst/>
              <a:uFillTx/>
              <a:latin typeface="Noto Serif"/>
            </a:endParaRPr>
          </a:p>
        </p:txBody>
      </p:sp>
      <p:sp>
        <p:nvSpPr>
          <p:cNvPr id="19" name="Text 1"/>
          <p:cNvSpPr/>
          <p:nvPr/>
        </p:nvSpPr>
        <p:spPr>
          <a:xfrm>
            <a:off x="609480" y="1249560"/>
            <a:ext cx="8083080" cy="23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891"/>
              </a:lnSpc>
              <a:tabLst>
                <a:tab algn="l" pos="0"/>
              </a:tabLst>
            </a:pPr>
            <a:r>
              <a:rPr lang="en-US" sz="1350" b="1" u="none" strike="noStrike">
                <a:solidFill>
                  <a:srgbClr val="cbd5e1"/>
                </a:solidFill>
                <a:effectLst/>
                <a:uFillTx/>
                <a:latin typeface="Arial"/>
                <a:ea typeface="Arial"/>
              </a:rPr>
              <a:t>Based on Real User Feedback: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Noto Serif"/>
            </a:endParaRPr>
          </a:p>
        </p:txBody>
      </p:sp>
      <p:sp>
        <p:nvSpPr>
          <p:cNvPr id="20" name="Text 2"/>
          <p:cNvSpPr/>
          <p:nvPr/>
        </p:nvSpPr>
        <p:spPr>
          <a:xfrm>
            <a:off x="914400" y="1641960"/>
            <a:ext cx="7619760" cy="157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ts val="2429"/>
              </a:lnSpc>
              <a:buClr>
                <a:srgbClr val="cbd5e1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cbd5e1"/>
                </a:solidFill>
                <a:effectLst/>
                <a:uFillTx/>
                <a:latin typeface="Arial"/>
                <a:ea typeface="Arial"/>
              </a:rPr>
              <a:t>Chromium-based browser with custom safety extensions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Noto Serif"/>
            </a:endParaRPr>
          </a:p>
          <a:p>
            <a:pPr marL="343080" indent="-343080" defTabSz="914400">
              <a:lnSpc>
                <a:spcPts val="2429"/>
              </a:lnSpc>
              <a:buClr>
                <a:srgbClr val="cbd5e1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cbd5e1"/>
                </a:solidFill>
                <a:effectLst/>
                <a:uFillTx/>
                <a:latin typeface="Arial"/>
                <a:ea typeface="Arial"/>
              </a:rPr>
              <a:t>Integrated with Azure AI Content Safety for intelligent filtering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Noto Serif"/>
            </a:endParaRPr>
          </a:p>
          <a:p>
            <a:pPr marL="343080" indent="-343080" defTabSz="914400">
              <a:lnSpc>
                <a:spcPts val="2429"/>
              </a:lnSpc>
              <a:buClr>
                <a:srgbClr val="cbd5e1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cbd5e1"/>
                </a:solidFill>
                <a:effectLst/>
                <a:uFillTx/>
                <a:latin typeface="Arial"/>
                <a:ea typeface="Arial"/>
              </a:rPr>
              <a:t>Founder conducted 15+ parent interviews → refined feature priorities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Noto Serif"/>
            </a:endParaRPr>
          </a:p>
          <a:p>
            <a:pPr marL="343080" indent="-343080" defTabSz="914400">
              <a:lnSpc>
                <a:spcPts val="2429"/>
              </a:lnSpc>
              <a:buClr>
                <a:srgbClr val="cbd5e1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cbd5e1"/>
                </a:solidFill>
                <a:effectLst/>
                <a:uFillTx/>
                <a:latin typeface="Arial"/>
                <a:ea typeface="Arial"/>
              </a:rPr>
              <a:t>Pilot beta: 12 children, 15 parents → 4.8/5 satisfaction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Noto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Image 1" descr="preencoded.png"/>
          <p:cNvPicPr/>
          <p:nvPr/>
        </p:nvPicPr>
        <p:blipFill>
          <a:blip r:embed="rId1"/>
          <a:stretch/>
        </p:blipFill>
        <p:spPr>
          <a:xfrm>
            <a:off x="0" y="360"/>
            <a:ext cx="914400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" name="Text 13"/>
          <p:cNvSpPr/>
          <p:nvPr/>
        </p:nvSpPr>
        <p:spPr>
          <a:xfrm>
            <a:off x="228600" y="914400"/>
            <a:ext cx="7924320" cy="1260000"/>
          </a:xfrm>
          <a:prstGeom prst="roundRect">
            <a:avLst>
              <a:gd name="adj" fmla="val 58037"/>
            </a:avLst>
          </a:prstGeom>
          <a:noFill/>
          <a:ln w="5443">
            <a:solidFill>
              <a:srgbClr val="38bdf8"/>
            </a:solidFill>
            <a:round/>
          </a:ln>
          <a:effectLst>
            <a:outerShdw algn="bl" blurRad="152280" dir="5400000" dist="76320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Text 14"/>
          <p:cNvSpPr/>
          <p:nvPr/>
        </p:nvSpPr>
        <p:spPr>
          <a:xfrm>
            <a:off x="228600" y="2286000"/>
            <a:ext cx="7924320" cy="1260000"/>
          </a:xfrm>
          <a:prstGeom prst="roundRect">
            <a:avLst>
              <a:gd name="adj" fmla="val 58037"/>
            </a:avLst>
          </a:prstGeom>
          <a:noFill/>
          <a:ln w="5443">
            <a:solidFill>
              <a:srgbClr val="38bdf8"/>
            </a:solidFill>
            <a:round/>
          </a:ln>
          <a:effectLst>
            <a:outerShdw algn="bl" blurRad="152280" dir="5400000" dist="76320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" name="Text 15"/>
          <p:cNvSpPr/>
          <p:nvPr/>
        </p:nvSpPr>
        <p:spPr>
          <a:xfrm>
            <a:off x="241560" y="3631320"/>
            <a:ext cx="7924320" cy="1260000"/>
          </a:xfrm>
          <a:prstGeom prst="roundRect">
            <a:avLst>
              <a:gd name="adj" fmla="val 58037"/>
            </a:avLst>
          </a:prstGeom>
          <a:noFill/>
          <a:ln w="5443">
            <a:solidFill>
              <a:srgbClr val="38bdf8"/>
            </a:solidFill>
            <a:round/>
          </a:ln>
          <a:effectLst>
            <a:outerShdw algn="bl" blurRad="152280" dir="5400000" dist="76320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" name="Text 16"/>
          <p:cNvSpPr/>
          <p:nvPr/>
        </p:nvSpPr>
        <p:spPr>
          <a:xfrm>
            <a:off x="375120" y="274680"/>
            <a:ext cx="8083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3240"/>
              </a:lnSpc>
              <a:tabLst>
                <a:tab algn="l" pos="0"/>
              </a:tabLst>
            </a:pPr>
            <a:r>
              <a:rPr lang="en-US" sz="2700" b="1" u="none" strike="noStrike">
                <a:solidFill>
                  <a:srgbClr val="38bdf8"/>
                </a:solidFill>
                <a:effectLst/>
                <a:uFillTx/>
                <a:latin typeface="Arial"/>
                <a:ea typeface="Arial"/>
              </a:rPr>
              <a:t>Key Features (Part 1)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26" name="Text 17"/>
          <p:cNvSpPr/>
          <p:nvPr/>
        </p:nvSpPr>
        <p:spPr>
          <a:xfrm>
            <a:off x="550800" y="1143000"/>
            <a:ext cx="74502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160"/>
              </a:lnSpc>
              <a:tabLst>
                <a:tab algn="l" pos="0"/>
              </a:tabLst>
            </a:pPr>
            <a:r>
              <a:rPr lang="en-US" sz="1800" b="1" u="none" strike="noStrike">
                <a:solidFill>
                  <a:srgbClr val="38bdf8"/>
                </a:solidFill>
                <a:effectLst/>
                <a:uFillTx/>
                <a:latin typeface="Arial"/>
                <a:ea typeface="Arial"/>
              </a:rPr>
              <a:t>Adult Content Filter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27" name="Text 18"/>
          <p:cNvSpPr/>
          <p:nvPr/>
        </p:nvSpPr>
        <p:spPr>
          <a:xfrm>
            <a:off x="550800" y="1616040"/>
            <a:ext cx="7450200" cy="2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681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cbd5e1"/>
                </a:solidFill>
                <a:effectLst/>
                <a:uFillTx/>
                <a:latin typeface="Arial"/>
                <a:ea typeface="Arial"/>
              </a:rPr>
              <a:t>Intelligent filtering blocks inappropriate sites automatically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28" name="Text 19"/>
          <p:cNvSpPr/>
          <p:nvPr/>
        </p:nvSpPr>
        <p:spPr>
          <a:xfrm>
            <a:off x="550800" y="2469240"/>
            <a:ext cx="74502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160"/>
              </a:lnSpc>
              <a:tabLst>
                <a:tab algn="l" pos="0"/>
              </a:tabLst>
            </a:pPr>
            <a:r>
              <a:rPr lang="en-US" sz="1800" b="1" u="none" strike="noStrike">
                <a:solidFill>
                  <a:srgbClr val="38bdf8"/>
                </a:solidFill>
                <a:effectLst/>
                <a:uFillTx/>
                <a:latin typeface="Arial"/>
                <a:ea typeface="Arial"/>
              </a:rPr>
              <a:t>Zero Data Collection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29" name="Text 20"/>
          <p:cNvSpPr/>
          <p:nvPr/>
        </p:nvSpPr>
        <p:spPr>
          <a:xfrm>
            <a:off x="457200" y="2987640"/>
            <a:ext cx="7450200" cy="2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681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cbd5e1"/>
                </a:solidFill>
                <a:effectLst/>
                <a:uFillTx/>
                <a:latin typeface="Arial"/>
                <a:ea typeface="Arial"/>
              </a:rPr>
              <a:t>No tracking, no analytics, complete privacy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30" name="Text 21"/>
          <p:cNvSpPr/>
          <p:nvPr/>
        </p:nvSpPr>
        <p:spPr>
          <a:xfrm>
            <a:off x="550800" y="3886200"/>
            <a:ext cx="74502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160"/>
              </a:lnSpc>
              <a:tabLst>
                <a:tab algn="l" pos="0"/>
              </a:tabLst>
            </a:pPr>
            <a:r>
              <a:rPr lang="en-US" sz="1800" b="1" u="none" strike="noStrike">
                <a:solidFill>
                  <a:srgbClr val="38bdf8"/>
                </a:solidFill>
                <a:effectLst/>
                <a:uFillTx/>
                <a:latin typeface="Arial"/>
                <a:ea typeface="Arial"/>
              </a:rPr>
              <a:t>Malware Protection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31" name="Text 22"/>
          <p:cNvSpPr/>
          <p:nvPr/>
        </p:nvSpPr>
        <p:spPr>
          <a:xfrm>
            <a:off x="550800" y="4359240"/>
            <a:ext cx="7450200" cy="2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681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cbd5e1"/>
                </a:solidFill>
                <a:effectLst/>
                <a:uFillTx/>
                <a:latin typeface="Arial"/>
                <a:ea typeface="Arial"/>
              </a:rPr>
              <a:t>Sandbox environment isolates threats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"/>
          <p:cNvGrpSpPr/>
          <p:nvPr/>
        </p:nvGrpSpPr>
        <p:grpSpPr>
          <a:xfrm>
            <a:off x="421560" y="335880"/>
            <a:ext cx="8112240" cy="4464720"/>
            <a:chOff x="421560" y="335880"/>
            <a:chExt cx="8112240" cy="4464720"/>
          </a:xfrm>
        </p:grpSpPr>
        <p:sp>
          <p:nvSpPr>
            <p:cNvPr id="33" name="Text 0"/>
            <p:cNvSpPr/>
            <p:nvPr/>
          </p:nvSpPr>
          <p:spPr>
            <a:xfrm>
              <a:off x="609480" y="1052280"/>
              <a:ext cx="7924320" cy="1249200"/>
            </a:xfrm>
            <a:prstGeom prst="rect">
              <a:avLst/>
            </a:prstGeom>
            <a:solidFill>
              <a:srgbClr val="1e293b"/>
            </a:solidFill>
            <a:ln w="0">
              <a:noFill/>
            </a:ln>
            <a:effectLst>
              <a:outerShdw algn="bl" blurRad="152280" dir="5400000" dist="76320" kx="0" ky="0" rotWithShape="0" sx="100000" sy="100000">
                <a:srgbClr val="00000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>
              <a:norm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34" name="Text 1"/>
            <p:cNvSpPr/>
            <p:nvPr/>
          </p:nvSpPr>
          <p:spPr>
            <a:xfrm>
              <a:off x="609480" y="2301840"/>
              <a:ext cx="7924320" cy="1249200"/>
            </a:xfrm>
            <a:prstGeom prst="rect">
              <a:avLst/>
            </a:prstGeom>
            <a:solidFill>
              <a:srgbClr val="1e293b"/>
            </a:solidFill>
            <a:ln w="0">
              <a:noFill/>
            </a:ln>
            <a:effectLst>
              <a:outerShdw algn="bl" blurRad="152280" dir="5400000" dist="76320" kx="0" ky="0" rotWithShape="0" sx="100000" sy="100000">
                <a:srgbClr val="00000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>
              <a:norm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35" name="Text 2"/>
            <p:cNvSpPr/>
            <p:nvPr/>
          </p:nvSpPr>
          <p:spPr>
            <a:xfrm>
              <a:off x="609480" y="3551400"/>
              <a:ext cx="7924320" cy="1249200"/>
            </a:xfrm>
            <a:prstGeom prst="rect">
              <a:avLst/>
            </a:prstGeom>
            <a:solidFill>
              <a:srgbClr val="1e293b"/>
            </a:solidFill>
            <a:ln w="0">
              <a:noFill/>
            </a:ln>
            <a:effectLst>
              <a:outerShdw algn="bl" blurRad="152280" dir="5400000" dist="76320" kx="0" ky="0" rotWithShape="0" sx="100000" sy="100000">
                <a:srgbClr val="00000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>
              <a:norm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36" name="Text 3"/>
            <p:cNvSpPr/>
            <p:nvPr/>
          </p:nvSpPr>
          <p:spPr>
            <a:xfrm>
              <a:off x="421560" y="335880"/>
              <a:ext cx="8083080" cy="411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ts val="3240"/>
                </a:lnSpc>
                <a:tabLst>
                  <a:tab algn="l" pos="0"/>
                </a:tabLst>
              </a:pPr>
              <a:r>
                <a:rPr lang="en-US" sz="2700" b="1" u="none" strike="noStrike">
                  <a:solidFill>
                    <a:srgbClr val="38bdf8"/>
                  </a:solidFill>
                  <a:effectLst/>
                  <a:uFillTx/>
                  <a:latin typeface="Arial"/>
                  <a:ea typeface="Arial"/>
                </a:rPr>
                <a:t>Key Features (Part 2)</a:t>
              </a:r>
              <a:endParaRPr lang="en-US" sz="2700" b="0" u="none" strike="noStrike">
                <a:solidFill>
                  <a:srgbClr val="ffffff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37" name="Text 4"/>
            <p:cNvSpPr/>
            <p:nvPr/>
          </p:nvSpPr>
          <p:spPr>
            <a:xfrm>
              <a:off x="914400" y="1357200"/>
              <a:ext cx="7461000" cy="27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ts val="2160"/>
                </a:lnSpc>
                <a:tabLst>
                  <a:tab algn="l" pos="0"/>
                </a:tabLst>
              </a:pPr>
              <a:r>
                <a:rPr lang="en-US" sz="1800" b="1" u="none" strike="noStrike">
                  <a:solidFill>
                    <a:srgbClr val="38bdf8"/>
                  </a:solidFill>
                  <a:effectLst/>
                  <a:uFillTx/>
                  <a:latin typeface="Arial"/>
                  <a:ea typeface="Arial"/>
                </a:rPr>
                <a:t>Phishing Protection</a:t>
              </a: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38" name="Text 5"/>
            <p:cNvSpPr/>
            <p:nvPr/>
          </p:nvSpPr>
          <p:spPr>
            <a:xfrm>
              <a:off x="914400" y="1783800"/>
              <a:ext cx="7461000" cy="212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ts val="1681"/>
                </a:lnSpc>
                <a:tabLst>
                  <a:tab algn="l" pos="0"/>
                </a:tabLst>
              </a:pPr>
              <a:r>
                <a:rPr lang="en-US" sz="1200" b="0" u="none" strike="noStrike">
                  <a:solidFill>
                    <a:srgbClr val="cbd5e1"/>
                  </a:solidFill>
                  <a:effectLst/>
                  <a:uFillTx/>
                  <a:latin typeface="Arial"/>
                  <a:ea typeface="Arial"/>
                </a:rPr>
                <a:t>Detects and blocks phishing attacks in real-time</a:t>
              </a:r>
              <a:endParaRPr lang="en-US" sz="1200" b="0" u="none" strike="noStrike">
                <a:solidFill>
                  <a:srgbClr val="ffffff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39" name="Text 6"/>
            <p:cNvSpPr/>
            <p:nvPr/>
          </p:nvSpPr>
          <p:spPr>
            <a:xfrm>
              <a:off x="914400" y="2606760"/>
              <a:ext cx="7461000" cy="27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ts val="2160"/>
                </a:lnSpc>
                <a:tabLst>
                  <a:tab algn="l" pos="0"/>
                </a:tabLst>
              </a:pPr>
              <a:r>
                <a:rPr lang="en-US" sz="1800" b="1" u="none" strike="noStrike">
                  <a:solidFill>
                    <a:srgbClr val="38bdf8"/>
                  </a:solidFill>
                  <a:effectLst/>
                  <a:uFillTx/>
                  <a:latin typeface="Arial"/>
                  <a:ea typeface="Arial"/>
                </a:rPr>
                <a:t>Simple UI</a:t>
              </a: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40" name="Text 7"/>
            <p:cNvSpPr/>
            <p:nvPr/>
          </p:nvSpPr>
          <p:spPr>
            <a:xfrm>
              <a:off x="914400" y="3033360"/>
              <a:ext cx="7461000" cy="212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ts val="1681"/>
                </a:lnSpc>
                <a:tabLst>
                  <a:tab algn="l" pos="0"/>
                </a:tabLst>
              </a:pPr>
              <a:r>
                <a:rPr lang="en-US" sz="1200" b="0" u="none" strike="noStrike">
                  <a:solidFill>
                    <a:srgbClr val="cbd5e1"/>
                  </a:solidFill>
                  <a:effectLst/>
                  <a:uFillTx/>
                  <a:latin typeface="Arial"/>
                  <a:ea typeface="Arial"/>
                </a:rPr>
                <a:t>Intuitive design for children of all ages</a:t>
              </a:r>
              <a:endParaRPr lang="en-US" sz="1200" b="0" u="none" strike="noStrike">
                <a:solidFill>
                  <a:srgbClr val="ffffff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41" name="Text 8"/>
            <p:cNvSpPr/>
            <p:nvPr/>
          </p:nvSpPr>
          <p:spPr>
            <a:xfrm>
              <a:off x="914400" y="3856320"/>
              <a:ext cx="7461000" cy="27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ts val="2160"/>
                </a:lnSpc>
                <a:tabLst>
                  <a:tab algn="l" pos="0"/>
                </a:tabLst>
              </a:pPr>
              <a:r>
                <a:rPr lang="en-US" sz="1800" b="1" u="none" strike="noStrike">
                  <a:solidFill>
                    <a:srgbClr val="38bdf8"/>
                  </a:solidFill>
                  <a:effectLst/>
                  <a:uFillTx/>
                  <a:latin typeface="Arial"/>
                  <a:ea typeface="Arial"/>
                </a:rPr>
                <a:t>Child-Friendly Chatbot</a:t>
              </a: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42" name="Text 9"/>
            <p:cNvSpPr/>
            <p:nvPr/>
          </p:nvSpPr>
          <p:spPr>
            <a:xfrm>
              <a:off x="914400" y="4282920"/>
              <a:ext cx="7461000" cy="212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ts val="1681"/>
                </a:lnSpc>
                <a:tabLst>
                  <a:tab algn="l" pos="0"/>
                </a:tabLst>
              </a:pPr>
              <a:r>
                <a:rPr lang="en-US" sz="1200" b="0" u="none" strike="noStrike">
                  <a:solidFill>
                    <a:srgbClr val="cbd5e1"/>
                  </a:solidFill>
                  <a:effectLst/>
                  <a:uFillTx/>
                  <a:latin typeface="Arial"/>
                  <a:ea typeface="Arial"/>
                </a:rPr>
                <a:t>Custom AI assistant for homework and learning support</a:t>
              </a:r>
              <a:endParaRPr lang="en-US" sz="1200" b="0" u="none" strike="noStrike">
                <a:solidFill>
                  <a:srgbClr val="ffffff"/>
                </a:solidFill>
                <a:effectLst/>
                <a:uFillTx/>
                <a:latin typeface="Noto Serif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 0"/>
          <p:cNvSpPr/>
          <p:nvPr/>
        </p:nvSpPr>
        <p:spPr>
          <a:xfrm>
            <a:off x="421560" y="609480"/>
            <a:ext cx="8083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3240"/>
              </a:lnSpc>
              <a:tabLst>
                <a:tab algn="l" pos="0"/>
              </a:tabLst>
            </a:pPr>
            <a:r>
              <a:rPr lang="en-US" sz="2700" b="1" u="none" strike="noStrike">
                <a:solidFill>
                  <a:srgbClr val="38bdf8"/>
                </a:solidFill>
                <a:effectLst/>
                <a:uFillTx/>
                <a:latin typeface="Arial"/>
                <a:ea typeface="Arial"/>
              </a:rPr>
              <a:t>Parent-Guided Website Access</a:t>
            </a:r>
            <a:endParaRPr lang="en-US" sz="2700" b="0" u="none" strike="noStrike">
              <a:solidFill>
                <a:srgbClr val="ffffff"/>
              </a:solidFill>
              <a:effectLst/>
              <a:uFillTx/>
              <a:latin typeface="Noto Serif"/>
            </a:endParaRPr>
          </a:p>
        </p:txBody>
      </p:sp>
      <p:sp>
        <p:nvSpPr>
          <p:cNvPr id="44" name="Text 1"/>
          <p:cNvSpPr/>
          <p:nvPr/>
        </p:nvSpPr>
        <p:spPr>
          <a:xfrm>
            <a:off x="914400" y="1249560"/>
            <a:ext cx="7619760" cy="157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ts val="2429"/>
              </a:lnSpc>
              <a:buClr>
                <a:srgbClr val="cbd5e1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cbd5e1"/>
                </a:solidFill>
                <a:effectLst/>
                <a:uFillTx/>
                <a:latin typeface="Arial"/>
                <a:ea typeface="Arial"/>
              </a:rPr>
              <a:t>Parents approve/deny websites with granular control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Noto Serif"/>
            </a:endParaRPr>
          </a:p>
          <a:p>
            <a:pPr marL="343080" indent="-343080" defTabSz="914400">
              <a:lnSpc>
                <a:spcPts val="2429"/>
              </a:lnSpc>
              <a:buClr>
                <a:srgbClr val="cbd5e1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cbd5e1"/>
                </a:solidFill>
                <a:effectLst/>
                <a:uFillTx/>
                <a:latin typeface="Arial"/>
                <a:ea typeface="Arial"/>
              </a:rPr>
              <a:t>Real-time activity monitoring (non-intrusive)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Noto Serif"/>
            </a:endParaRPr>
          </a:p>
          <a:p>
            <a:pPr marL="343080" indent="-343080" defTabSz="914400">
              <a:lnSpc>
                <a:spcPts val="2429"/>
              </a:lnSpc>
              <a:buClr>
                <a:srgbClr val="cbd5e1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cbd5e1"/>
                </a:solidFill>
                <a:effectLst/>
                <a:uFillTx/>
                <a:latin typeface="Arial"/>
                <a:ea typeface="Arial"/>
              </a:rPr>
              <a:t>Time management and session limits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Noto Serif"/>
            </a:endParaRPr>
          </a:p>
          <a:p>
            <a:pPr marL="343080" indent="-343080" defTabSz="914400">
              <a:lnSpc>
                <a:spcPts val="2429"/>
              </a:lnSpc>
              <a:buClr>
                <a:srgbClr val="cbd5e1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cbd5e1"/>
                </a:solidFill>
                <a:effectLst/>
                <a:uFillTx/>
                <a:latin typeface="Arial"/>
                <a:ea typeface="Arial"/>
              </a:rPr>
              <a:t>Educational focus: encourage learning sites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Noto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"/>
          <p:cNvGrpSpPr/>
          <p:nvPr/>
        </p:nvGrpSpPr>
        <p:grpSpPr>
          <a:xfrm>
            <a:off x="421560" y="228600"/>
            <a:ext cx="8112240" cy="4647240"/>
            <a:chOff x="421560" y="228600"/>
            <a:chExt cx="8112240" cy="4647240"/>
          </a:xfrm>
        </p:grpSpPr>
        <p:sp>
          <p:nvSpPr>
            <p:cNvPr id="46" name="Text 0"/>
            <p:cNvSpPr/>
            <p:nvPr/>
          </p:nvSpPr>
          <p:spPr>
            <a:xfrm>
              <a:off x="609480" y="837720"/>
              <a:ext cx="7924320" cy="954720"/>
            </a:xfrm>
            <a:prstGeom prst="rect">
              <a:avLst/>
            </a:prstGeom>
            <a:solidFill>
              <a:srgbClr val="1e293b"/>
            </a:solidFill>
            <a:ln w="0">
              <a:noFill/>
            </a:ln>
            <a:effectLst>
              <a:outerShdw algn="bl" blurRad="152280" dir="5400000" dist="76320" kx="0" ky="0" rotWithShape="0" sx="100000" sy="100000">
                <a:srgbClr val="00000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>
              <a:norm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47" name="Text 1"/>
            <p:cNvSpPr/>
            <p:nvPr/>
          </p:nvSpPr>
          <p:spPr>
            <a:xfrm>
              <a:off x="609480" y="1792800"/>
              <a:ext cx="7924320" cy="955080"/>
            </a:xfrm>
            <a:prstGeom prst="rect">
              <a:avLst/>
            </a:prstGeom>
            <a:solidFill>
              <a:srgbClr val="1e293b"/>
            </a:solidFill>
            <a:ln w="0">
              <a:noFill/>
            </a:ln>
            <a:effectLst>
              <a:outerShdw algn="bl" blurRad="152280" dir="5400000" dist="76320" kx="0" ky="0" rotWithShape="0" sx="100000" sy="100000">
                <a:srgbClr val="00000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>
              <a:norm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48" name="Text 2"/>
            <p:cNvSpPr/>
            <p:nvPr/>
          </p:nvSpPr>
          <p:spPr>
            <a:xfrm>
              <a:off x="609480" y="2965680"/>
              <a:ext cx="7924320" cy="954360"/>
            </a:xfrm>
            <a:prstGeom prst="rect">
              <a:avLst/>
            </a:prstGeom>
            <a:solidFill>
              <a:srgbClr val="1e293b"/>
            </a:solidFill>
            <a:ln w="0">
              <a:noFill/>
            </a:ln>
            <a:effectLst>
              <a:outerShdw algn="bl" blurRad="152280" dir="5400000" dist="76320" kx="0" ky="0" rotWithShape="0" sx="100000" sy="100000">
                <a:srgbClr val="00000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>
              <a:norm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49" name="Text 3"/>
            <p:cNvSpPr/>
            <p:nvPr/>
          </p:nvSpPr>
          <p:spPr>
            <a:xfrm>
              <a:off x="609480" y="3921120"/>
              <a:ext cx="7924320" cy="954720"/>
            </a:xfrm>
            <a:prstGeom prst="rect">
              <a:avLst/>
            </a:prstGeom>
            <a:solidFill>
              <a:srgbClr val="1e293b"/>
            </a:solidFill>
            <a:ln w="0">
              <a:noFill/>
            </a:ln>
            <a:effectLst>
              <a:outerShdw algn="bl" blurRad="152280" dir="5400000" dist="76320" kx="0" ky="0" rotWithShape="0" sx="100000" sy="100000">
                <a:srgbClr val="00000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>
              <a:norm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50" name="Text 4"/>
            <p:cNvSpPr/>
            <p:nvPr/>
          </p:nvSpPr>
          <p:spPr>
            <a:xfrm>
              <a:off x="421560" y="228600"/>
              <a:ext cx="8083080" cy="390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ts val="3240"/>
                </a:lnSpc>
                <a:tabLst>
                  <a:tab algn="l" pos="0"/>
                </a:tabLst>
              </a:pPr>
              <a:r>
                <a:rPr lang="en-US" sz="2700" b="1" u="none" strike="noStrike">
                  <a:solidFill>
                    <a:srgbClr val="38bdf8"/>
                  </a:solidFill>
                  <a:effectLst/>
                  <a:uFillTx/>
                  <a:latin typeface="Arial"/>
                  <a:ea typeface="Arial"/>
                </a:rPr>
                <a:t>Microsoft Technologies Used</a:t>
              </a:r>
              <a:endParaRPr lang="en-US" sz="2700" b="0" u="none" strike="noStrike">
                <a:solidFill>
                  <a:srgbClr val="ffffff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51" name="Text 5"/>
            <p:cNvSpPr/>
            <p:nvPr/>
          </p:nvSpPr>
          <p:spPr>
            <a:xfrm>
              <a:off x="838080" y="1054800"/>
              <a:ext cx="7616520" cy="191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ts val="1585"/>
                </a:lnSpc>
                <a:tabLst>
                  <a:tab algn="l" pos="0"/>
                </a:tabLst>
              </a:pPr>
              <a:r>
                <a:rPr lang="en-US" sz="1320" b="1" u="none" strike="noStrike">
                  <a:solidFill>
                    <a:srgbClr val="38bdf8"/>
                  </a:solidFill>
                  <a:effectLst/>
                  <a:uFillTx/>
                  <a:latin typeface="Arial"/>
                  <a:ea typeface="Arial"/>
                </a:rPr>
                <a:t>Core Platform</a:t>
              </a:r>
              <a:endParaRPr lang="en-US" sz="1320" b="0" u="none" strike="noStrike">
                <a:solidFill>
                  <a:srgbClr val="ffffff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52" name="Text 6"/>
            <p:cNvSpPr/>
            <p:nvPr/>
          </p:nvSpPr>
          <p:spPr>
            <a:xfrm>
              <a:off x="838080" y="1354680"/>
              <a:ext cx="7616520" cy="219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ts val="1823"/>
                </a:lnSpc>
                <a:tabLst>
                  <a:tab algn="l" pos="0"/>
                </a:tabLst>
              </a:pPr>
              <a:r>
                <a:rPr lang="en-US" sz="1140" b="0" u="none" strike="noStrike">
                  <a:solidFill>
                    <a:srgbClr val="cbd5e1"/>
                  </a:solidFill>
                  <a:effectLst/>
                  <a:uFillTx/>
                  <a:latin typeface="Arial"/>
                  <a:ea typeface="Arial"/>
                </a:rPr>
                <a:t>Chromium (Edge engine), C++, Windows/macOS/Linux</a:t>
              </a:r>
              <a:endParaRPr lang="en-US" sz="1140" b="0" u="none" strike="noStrike">
                <a:solidFill>
                  <a:srgbClr val="ffffff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53" name="Text 7"/>
            <p:cNvSpPr/>
            <p:nvPr/>
          </p:nvSpPr>
          <p:spPr>
            <a:xfrm>
              <a:off x="838080" y="2010600"/>
              <a:ext cx="7616520" cy="190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ts val="1585"/>
                </a:lnSpc>
                <a:tabLst>
                  <a:tab algn="l" pos="0"/>
                </a:tabLst>
              </a:pPr>
              <a:r>
                <a:rPr lang="en-US" sz="1320" b="1" u="none" strike="noStrike">
                  <a:solidFill>
                    <a:srgbClr val="38bdf8"/>
                  </a:solidFill>
                  <a:effectLst/>
                  <a:uFillTx/>
                  <a:latin typeface="Arial"/>
                  <a:ea typeface="Arial"/>
                </a:rPr>
                <a:t>Backend &amp; AI</a:t>
              </a:r>
              <a:endParaRPr lang="en-US" sz="1320" b="0" u="none" strike="noStrike">
                <a:solidFill>
                  <a:srgbClr val="ffffff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54" name="Text 8"/>
            <p:cNvSpPr/>
            <p:nvPr/>
          </p:nvSpPr>
          <p:spPr>
            <a:xfrm>
              <a:off x="838080" y="2310480"/>
              <a:ext cx="7616520" cy="219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ts val="1823"/>
                </a:lnSpc>
                <a:tabLst>
                  <a:tab algn="l" pos="0"/>
                </a:tabLst>
              </a:pPr>
              <a:r>
                <a:rPr lang="en-US" sz="1140" b="0" u="none" strike="noStrike">
                  <a:solidFill>
                    <a:srgbClr val="cbd5e1"/>
                  </a:solidFill>
                  <a:effectLst/>
                  <a:uFillTx/>
                  <a:latin typeface="Arial"/>
                  <a:ea typeface="Arial"/>
                </a:rPr>
                <a:t>Azure Static Web Apps, Azure Functions, Azure OpenAI (chatbot)</a:t>
              </a:r>
              <a:endParaRPr lang="en-US" sz="1140" b="0" u="none" strike="noStrike">
                <a:solidFill>
                  <a:srgbClr val="ffffff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55" name="Text 9"/>
            <p:cNvSpPr/>
            <p:nvPr/>
          </p:nvSpPr>
          <p:spPr>
            <a:xfrm>
              <a:off x="838080" y="3183120"/>
              <a:ext cx="7616520" cy="190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ts val="1585"/>
                </a:lnSpc>
                <a:tabLst>
                  <a:tab algn="l" pos="0"/>
                </a:tabLst>
              </a:pPr>
              <a:r>
                <a:rPr lang="en-US" sz="1320" b="1" u="none" strike="noStrike">
                  <a:solidFill>
                    <a:srgbClr val="38bdf8"/>
                  </a:solidFill>
                  <a:effectLst/>
                  <a:uFillTx/>
                  <a:latin typeface="Arial"/>
                  <a:ea typeface="Arial"/>
                </a:rPr>
                <a:t>Safety &amp; Security</a:t>
              </a:r>
              <a:endParaRPr lang="en-US" sz="1320" b="0" u="none" strike="noStrike">
                <a:solidFill>
                  <a:srgbClr val="ffffff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56" name="Text 10"/>
            <p:cNvSpPr/>
            <p:nvPr/>
          </p:nvSpPr>
          <p:spPr>
            <a:xfrm>
              <a:off x="838080" y="3483000"/>
              <a:ext cx="7616520" cy="219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ts val="1823"/>
                </a:lnSpc>
                <a:tabLst>
                  <a:tab algn="l" pos="0"/>
                </a:tabLst>
              </a:pPr>
              <a:r>
                <a:rPr lang="en-US" sz="1140" b="0" u="none" strike="noStrike">
                  <a:solidFill>
                    <a:srgbClr val="cbd5e1"/>
                  </a:solidFill>
                  <a:effectLst/>
                  <a:uFillTx/>
                  <a:latin typeface="Arial"/>
                  <a:ea typeface="Arial"/>
                </a:rPr>
                <a:t>Azure AI Content Safety, Azure Key Vault (secrets), Sandbox isolation</a:t>
              </a:r>
              <a:endParaRPr lang="en-US" sz="1140" b="0" u="none" strike="noStrike">
                <a:solidFill>
                  <a:srgbClr val="ffffff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57" name="Text 11"/>
            <p:cNvSpPr/>
            <p:nvPr/>
          </p:nvSpPr>
          <p:spPr>
            <a:xfrm>
              <a:off x="838080" y="4138560"/>
              <a:ext cx="7616520" cy="191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ts val="1585"/>
                </a:lnSpc>
                <a:tabLst>
                  <a:tab algn="l" pos="0"/>
                </a:tabLst>
              </a:pPr>
              <a:r>
                <a:rPr lang="en-US" sz="1320" b="1" u="none" strike="noStrike">
                  <a:solidFill>
                    <a:srgbClr val="38bdf8"/>
                  </a:solidFill>
                  <a:effectLst/>
                  <a:uFillTx/>
                  <a:latin typeface="Arial"/>
                  <a:ea typeface="Arial"/>
                </a:rPr>
                <a:t>Data &amp; Monitoring</a:t>
              </a:r>
              <a:endParaRPr lang="en-US" sz="1320" b="0" u="none" strike="noStrike">
                <a:solidFill>
                  <a:srgbClr val="ffffff"/>
                </a:solidFill>
                <a:effectLst/>
                <a:uFillTx/>
                <a:latin typeface="Noto Serif"/>
              </a:endParaRPr>
            </a:p>
          </p:txBody>
        </p:sp>
        <p:sp>
          <p:nvSpPr>
            <p:cNvPr id="58" name="Text 12"/>
            <p:cNvSpPr/>
            <p:nvPr/>
          </p:nvSpPr>
          <p:spPr>
            <a:xfrm>
              <a:off x="838080" y="4438440"/>
              <a:ext cx="7616520" cy="219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ts val="1823"/>
                </a:lnSpc>
                <a:tabLst>
                  <a:tab algn="l" pos="0"/>
                </a:tabLst>
              </a:pPr>
              <a:r>
                <a:rPr lang="en-US" sz="1140" b="0" u="none" strike="noStrike">
                  <a:solidFill>
                    <a:srgbClr val="cbd5e1"/>
                  </a:solidFill>
                  <a:effectLst/>
                  <a:uFillTx/>
                  <a:latin typeface="Arial"/>
                  <a:ea typeface="Arial"/>
                </a:rPr>
                <a:t>Azure Cosmos DB (parent analytics), Application Insights (monitoring)</a:t>
              </a:r>
              <a:endParaRPr lang="en-US" sz="1140" b="0" u="none" strike="noStrike">
                <a:solidFill>
                  <a:srgbClr val="ffffff"/>
                </a:solidFill>
                <a:effectLst/>
                <a:uFillTx/>
                <a:latin typeface="Noto Serif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ext 0"/>
          <p:cNvSpPr/>
          <p:nvPr/>
        </p:nvSpPr>
        <p:spPr>
          <a:xfrm>
            <a:off x="421560" y="609480"/>
            <a:ext cx="8083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3240"/>
              </a:lnSpc>
              <a:tabLst>
                <a:tab algn="l" pos="0"/>
              </a:tabLst>
            </a:pPr>
            <a:r>
              <a:rPr lang="en-US" sz="2700" b="1" u="none" strike="noStrike">
                <a:solidFill>
                  <a:srgbClr val="38bdf8"/>
                </a:solidFill>
                <a:effectLst/>
                <a:uFillTx/>
                <a:latin typeface="Arial"/>
                <a:ea typeface="Arial"/>
              </a:rPr>
              <a:t>MVP Status (Fully Functional)</a:t>
            </a:r>
            <a:endParaRPr lang="en-US" sz="2700" b="0" u="none" strike="noStrike">
              <a:solidFill>
                <a:srgbClr val="ffffff"/>
              </a:solidFill>
              <a:effectLst/>
              <a:uFillTx/>
              <a:latin typeface="Noto Serif"/>
            </a:endParaRPr>
          </a:p>
        </p:txBody>
      </p:sp>
      <p:sp>
        <p:nvSpPr>
          <p:cNvPr id="60" name="Text 1"/>
          <p:cNvSpPr/>
          <p:nvPr/>
        </p:nvSpPr>
        <p:spPr>
          <a:xfrm>
            <a:off x="914400" y="1249560"/>
            <a:ext cx="7619760" cy="199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429"/>
              </a:lnSpc>
              <a:tabLst>
                <a:tab algn="l" pos="0"/>
              </a:tabLst>
            </a:pPr>
            <a:r>
              <a:rPr lang="en-US" sz="1350" b="0" u="none" strike="noStrike">
                <a:solidFill>
                  <a:srgbClr val="10b981"/>
                </a:solidFill>
                <a:effectLst/>
                <a:uFillTx/>
                <a:latin typeface="Arial"/>
                <a:ea typeface="Arial"/>
              </a:rPr>
              <a:t>✓ Core browser engine</a:t>
            </a:r>
            <a:r>
              <a:rPr lang="en-US" sz="1350" b="0" u="none" strike="noStrike">
                <a:solidFill>
                  <a:srgbClr val="cbd5e1"/>
                </a:solidFill>
                <a:effectLst/>
                <a:uFillTx/>
                <a:latin typeface="Arial"/>
                <a:ea typeface="Arial"/>
              </a:rPr>
              <a:t> (Chromium-based, fully operational)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Noto Serif"/>
            </a:endParaRPr>
          </a:p>
          <a:p>
            <a:pPr defTabSz="914400">
              <a:lnSpc>
                <a:spcPts val="2429"/>
              </a:lnSpc>
              <a:tabLst>
                <a:tab algn="l" pos="0"/>
              </a:tabLst>
            </a:pPr>
            <a:r>
              <a:rPr lang="en-US" sz="1350" b="0" u="none" strike="noStrike">
                <a:solidFill>
                  <a:srgbClr val="10b981"/>
                </a:solidFill>
                <a:effectLst/>
                <a:uFillTx/>
                <a:latin typeface="Arial"/>
                <a:ea typeface="Arial"/>
              </a:rPr>
              <a:t>✓ Content filtering + phishing detection</a:t>
            </a:r>
            <a:r>
              <a:rPr lang="en-US" sz="1350" b="0" u="none" strike="noStrike">
                <a:solidFill>
                  <a:srgbClr val="cbd5e1"/>
                </a:solidFill>
                <a:effectLst/>
                <a:uFillTx/>
                <a:latin typeface="Arial"/>
                <a:ea typeface="Arial"/>
              </a:rPr>
              <a:t> with 95% accuracy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Noto Serif"/>
            </a:endParaRPr>
          </a:p>
          <a:p>
            <a:pPr defTabSz="914400">
              <a:lnSpc>
                <a:spcPts val="2429"/>
              </a:lnSpc>
              <a:tabLst>
                <a:tab algn="l" pos="0"/>
              </a:tabLst>
            </a:pPr>
            <a:r>
              <a:rPr lang="en-US" sz="1350" b="0" u="none" strike="noStrike">
                <a:solidFill>
                  <a:srgbClr val="10b981"/>
                </a:solidFill>
                <a:effectLst/>
                <a:uFillTx/>
                <a:latin typeface="Arial"/>
                <a:ea typeface="Arial"/>
              </a:rPr>
              <a:t>✓ Sandbox environment</a:t>
            </a:r>
            <a:r>
              <a:rPr lang="en-US" sz="1350" b="0" u="none" strike="noStrike">
                <a:solidFill>
                  <a:srgbClr val="cbd5e1"/>
                </a:solidFill>
                <a:effectLst/>
                <a:uFillTx/>
                <a:latin typeface="Arial"/>
                <a:ea typeface="Arial"/>
              </a:rPr>
              <a:t> &amp; malware protection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Noto Serif"/>
            </a:endParaRPr>
          </a:p>
          <a:p>
            <a:pPr defTabSz="914400">
              <a:lnSpc>
                <a:spcPts val="2429"/>
              </a:lnSpc>
              <a:tabLst>
                <a:tab algn="l" pos="0"/>
              </a:tabLst>
            </a:pPr>
            <a:r>
              <a:rPr lang="en-US" sz="1350" b="0" u="none" strike="noStrike">
                <a:solidFill>
                  <a:srgbClr val="10b981"/>
                </a:solidFill>
                <a:effectLst/>
                <a:uFillTx/>
                <a:latin typeface="Arial"/>
                <a:ea typeface="Arial"/>
              </a:rPr>
              <a:t>✓ AI chatbot</a:t>
            </a:r>
            <a:r>
              <a:rPr lang="en-US" sz="1350" b="0" u="none" strike="noStrike">
                <a:solidFill>
                  <a:srgbClr val="cbd5e1"/>
                </a:solidFill>
                <a:effectLst/>
                <a:uFillTx/>
                <a:latin typeface="Arial"/>
                <a:ea typeface="Arial"/>
              </a:rPr>
              <a:t> (Azure OpenAI integration, tested with 12 children)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Noto Serif"/>
            </a:endParaRPr>
          </a:p>
          <a:p>
            <a:pPr defTabSz="914400">
              <a:lnSpc>
                <a:spcPts val="2429"/>
              </a:lnSpc>
              <a:tabLst>
                <a:tab algn="l" pos="0"/>
              </a:tabLst>
            </a:pPr>
            <a:r>
              <a:rPr lang="en-US" sz="1350" b="0" u="none" strike="noStrike">
                <a:solidFill>
                  <a:srgbClr val="10b981"/>
                </a:solidFill>
                <a:effectLst/>
                <a:uFillTx/>
                <a:latin typeface="Arial"/>
                <a:ea typeface="Arial"/>
              </a:rPr>
              <a:t>✓ Parent dashboard</a:t>
            </a:r>
            <a:r>
              <a:rPr lang="en-US" sz="1350" b="0" u="none" strike="noStrike">
                <a:solidFill>
                  <a:srgbClr val="cbd5e1"/>
                </a:solidFill>
                <a:effectLst/>
                <a:uFillTx/>
                <a:latin typeface="Arial"/>
                <a:ea typeface="Arial"/>
              </a:rPr>
              <a:t> (beta, analytics ready for demo)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Noto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2" name="Text 0"/>
          <p:cNvSpPr/>
          <p:nvPr/>
        </p:nvSpPr>
        <p:spPr>
          <a:xfrm>
            <a:off x="1246320" y="1890000"/>
            <a:ext cx="6650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4320"/>
              </a:lnSpc>
              <a:tabLst>
                <a:tab algn="l" pos="0"/>
              </a:tabLst>
            </a:pPr>
            <a:r>
              <a:rPr lang="en-US" sz="3600" b="1" u="none" strike="noStrike">
                <a:solidFill>
                  <a:srgbClr val="38bdf8"/>
                </a:solidFill>
                <a:effectLst/>
                <a:uFillTx/>
                <a:latin typeface="Arial"/>
                <a:ea typeface="Arial"/>
              </a:rPr>
              <a:t>Let's Protect Children Online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63" name="Text 1"/>
          <p:cNvSpPr/>
          <p:nvPr/>
        </p:nvSpPr>
        <p:spPr>
          <a:xfrm>
            <a:off x="2121480" y="2760840"/>
            <a:ext cx="490104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2100"/>
              </a:lnSpc>
              <a:tabLst>
                <a:tab algn="l" pos="0"/>
              </a:tabLst>
            </a:pPr>
            <a:r>
              <a:rPr lang="en-US" sz="1500" b="0" u="none" strike="noStrike">
                <a:solidFill>
                  <a:srgbClr val="cbd5e1"/>
                </a:solidFill>
                <a:effectLst/>
                <a:uFillTx/>
                <a:latin typeface="Arial"/>
                <a:ea typeface="Arial"/>
              </a:rPr>
              <a:t>Demo: Live browser walkthrough &amp; parent dashboard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64" name="Text 2"/>
          <p:cNvSpPr/>
          <p:nvPr/>
        </p:nvSpPr>
        <p:spPr>
          <a:xfrm>
            <a:off x="1357560" y="3126240"/>
            <a:ext cx="6428160" cy="23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1891"/>
              </a:lnSpc>
              <a:tabLst>
                <a:tab algn="l" pos="0"/>
              </a:tabLst>
            </a:pPr>
            <a:r>
              <a:rPr lang="en-US" sz="1350" b="0" u="none" strike="noStrike">
                <a:solidFill>
                  <a:srgbClr val="94a3b8"/>
                </a:solidFill>
                <a:effectLst/>
                <a:uFillTx/>
                <a:latin typeface="Arial"/>
                <a:ea typeface="Arial"/>
              </a:rPr>
              <a:t>GitHub: github.com/yourusername/curiobrowser | Website: curiobrowser.com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</TotalTime>
  <Application>LibreOffice/25.8.4.2$Linux_X86_64 LibreOffice_project/580$Build-2</Application>
  <AppVersion>15.0000</AppVersion>
  <Words>0</Words>
  <Paragraphs>0</Paragraphs>
  <Company>Perplexity AI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2026-01-08T20:12:15Z</dcterms:created>
  <dc:creator>Perplexity</dc:creator>
  <dc:description/>
  <dc:language>en-US</dc:language>
  <cp:lastModifiedBy/>
  <dcterms:modified xsi:type="dcterms:W3CDTF">2026-01-09T01:52:18Z</dcterms:modified>
  <cp:revision>2</cp:revision>
  <dc:subject>PptxGenJS Presentation</dc:subject>
  <dc:title>Converted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15</vt:i4>
  </property>
  <property fmtid="{D5CDD505-2E9C-101B-9397-08002B2CF9AE}" pid="3" name="PresentationFormat">
    <vt:lpwstr>On-screen Show (16:9)</vt:lpwstr>
  </property>
  <property fmtid="{D5CDD505-2E9C-101B-9397-08002B2CF9AE}" pid="4" name="Slides">
    <vt:i4>15</vt:i4>
  </property>
</Properties>
</file>